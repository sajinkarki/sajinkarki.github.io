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CPI by Province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Inflation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Koshi</c:v>
                  </c:pt>
                  <c:pt idx="1">
                    <c:v>Madhesh</c:v>
                  </c:pt>
                  <c:pt idx="2">
                    <c:v>Bagmati</c:v>
                  </c:pt>
                  <c:pt idx="3">
                    <c:v>Gandaki</c:v>
                  </c:pt>
                  <c:pt idx="4">
                    <c:v>Lumbini</c:v>
                  </c:pt>
                  <c:pt idx="5">
                    <c:v>Karnali</c:v>
                  </c:pt>
                  <c:pt idx="6">
                    <c:v>Sudurpashchim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3.96</c:v>
                </c:pt>
                <c:pt idx="1">
                  <c:v>4.95</c:v>
                </c:pt>
                <c:pt idx="2">
                  <c:v>3.31</c:v>
                </c:pt>
                <c:pt idx="3">
                  <c:v>2.87</c:v>
                </c:pt>
                <c:pt idx="4">
                  <c:v>4.21</c:v>
                </c:pt>
                <c:pt idx="5">
                  <c:v>2.21</c:v>
                </c:pt>
                <c:pt idx="6">
                  <c:v>2.25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Trade Growth Rate (%) — Eight Months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2021/22</c:v>
                  </c:pt>
                  <c:pt idx="1">
                    <c:v>2022/23</c:v>
                  </c:pt>
                  <c:pt idx="2">
                    <c:v>2023/24</c:v>
                  </c:pt>
                  <c:pt idx="3">
                    <c:v>2024/25</c:v>
                  </c:pt>
                  <c:pt idx="4">
                    <c:v>2025/26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</c:v>
                </c:pt>
                <c:pt idx="1">
                  <c:v>25</c:v>
                </c:pt>
                <c:pt idx="2">
                  <c:v>10</c:v>
                </c:pt>
                <c:pt idx="3">
                  <c:v>57.2</c:v>
                </c:pt>
                <c:pt idx="4">
                  <c:v>20.8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2021/22</c:v>
                  </c:pt>
                  <c:pt idx="1">
                    <c:v>2022/23</c:v>
                  </c:pt>
                  <c:pt idx="2">
                    <c:v>2023/24</c:v>
                  </c:pt>
                  <c:pt idx="3">
                    <c:v>2024/25</c:v>
                  </c:pt>
                  <c:pt idx="4">
                    <c:v>2025/26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18</c:v>
                </c:pt>
                <c:pt idx="2">
                  <c:v>3</c:v>
                </c:pt>
                <c:pt idx="3">
                  <c:v>11.2</c:v>
                </c:pt>
                <c:pt idx="4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900" b="0" i="0" u="none" strike="noStrike">
                <a:solidFill>
                  <a:srgbClr val="CBD5E1"/>
                </a:solidFill>
                <a:latin typeface="Arial"/>
              </a:rPr>
              <a:t>Indicative Remittance Sources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Remittance 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Middle East</c:v>
                </c:pt>
                <c:pt idx="2">
                  <c:v>Other Asia</c:v>
                </c:pt>
                <c:pt idx="3">
                  <c:v>USA/Europe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Gross FX Reserves — Mid-March (Rs. Billion)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FX Reserves (Rs. Billion)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1600</c:v>
                </c:pt>
                <c:pt idx="2">
                  <c:v>2100</c:v>
                </c:pt>
                <c:pt idx="3">
                  <c:v>2677.68</c:v>
                </c:pt>
                <c:pt idx="4">
                  <c:v>3413.77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Government Expenditure &amp; Revenue Breakdown (Rs. Billion)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2023/24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Recurrent</c:v>
                  </c:pt>
                  <c:pt idx="1">
                    <c:v>Capital</c:v>
                  </c:pt>
                  <c:pt idx="2">
                    <c:v>Financial Mgmt</c:v>
                  </c:pt>
                  <c:pt idx="3">
                    <c:v>Tax Revenue</c:v>
                  </c:pt>
                  <c:pt idx="4">
                    <c:v>Non-Tax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582.11</c:v>
                </c:pt>
                <c:pt idx="1">
                  <c:v>81.21</c:v>
                </c:pt>
                <c:pt idx="2">
                  <c:v>138.26</c:v>
                </c:pt>
                <c:pt idx="3">
                  <c:v>578.67</c:v>
                </c:pt>
                <c:pt idx="4">
                  <c:v>60.37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2024/25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Recurrent</c:v>
                  </c:pt>
                  <c:pt idx="1">
                    <c:v>Capital</c:v>
                  </c:pt>
                  <c:pt idx="2">
                    <c:v>Financial Mgmt</c:v>
                  </c:pt>
                  <c:pt idx="3">
                    <c:v>Tax Revenue</c:v>
                  </c:pt>
                  <c:pt idx="4">
                    <c:v>Non-Tax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584.13</c:v>
                </c:pt>
                <c:pt idx="1">
                  <c:v>82.34</c:v>
                </c:pt>
                <c:pt idx="2">
                  <c:v>172.89</c:v>
                </c:pt>
                <c:pt idx="3">
                  <c:v>638.8</c:v>
                </c:pt>
                <c:pt idx="4">
                  <c:v>81.55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2025/26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Recurrent</c:v>
                  </c:pt>
                  <c:pt idx="1">
                    <c:v>Capital</c:v>
                  </c:pt>
                  <c:pt idx="2">
                    <c:v>Financial Mgmt</c:v>
                  </c:pt>
                  <c:pt idx="3">
                    <c:v>Tax Revenue</c:v>
                  </c:pt>
                  <c:pt idx="4">
                    <c:v>Non-Tax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642.15</c:v>
                </c:pt>
                <c:pt idx="1">
                  <c:v>78.49</c:v>
                </c:pt>
                <c:pt idx="2">
                  <c:v>205.95</c:v>
                </c:pt>
                <c:pt idx="3">
                  <c:v>676.59</c:v>
                </c:pt>
                <c:pt idx="4">
                  <c:v>70.69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Monetary Aggregates y-o-y Growth (Mid-March)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Deposits (y-o-y %)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2021/22</c:v>
                  </c:pt>
                  <c:pt idx="1">
                    <c:v>2022/23</c:v>
                  </c:pt>
                  <c:pt idx="2">
                    <c:v>2023/24</c:v>
                  </c:pt>
                  <c:pt idx="3">
                    <c:v>2024/25</c:v>
                  </c:pt>
                  <c:pt idx="4">
                    <c:v>2025/26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14</c:v>
                </c:pt>
                <c:pt idx="2">
                  <c:v>8</c:v>
                </c:pt>
                <c:pt idx="3">
                  <c:v>12</c:v>
                </c:pt>
                <c:pt idx="4">
                  <c:v>15.1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Credit (y-o-y %)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2021/22</c:v>
                  </c:pt>
                  <c:pt idx="1">
                    <c:v>2022/23</c:v>
                  </c:pt>
                  <c:pt idx="2">
                    <c:v>2023/24</c:v>
                  </c:pt>
                  <c:pt idx="3">
                    <c:v>2024/25</c:v>
                  </c:pt>
                  <c:pt idx="4">
                    <c:v>2025/26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</c:v>
                </c:pt>
                <c:pt idx="1">
                  <c:v>11</c:v>
                </c:pt>
                <c:pt idx="2">
                  <c:v>5</c:v>
                </c:pt>
                <c:pt idx="3">
                  <c:v>4</c:v>
                </c:pt>
                <c:pt idx="4">
                  <c:v>6.7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M2 (y-o-y %)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2021/22</c:v>
                  </c:pt>
                  <c:pt idx="1">
                    <c:v>2022/23</c:v>
                  </c:pt>
                  <c:pt idx="2">
                    <c:v>2023/24</c:v>
                  </c:pt>
                  <c:pt idx="3">
                    <c:v>2024/25</c:v>
                  </c:pt>
                  <c:pt idx="4">
                    <c:v>2025/26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11</c:v>
                </c:pt>
                <c:pt idx="4">
                  <c:v>14.5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900" b="0" i="0" u="none" strike="noStrike">
                <a:solidFill>
                  <a:srgbClr val="CBD5E1"/>
                </a:solidFill>
                <a:latin typeface="Arial"/>
              </a:rPr>
              <a:t>Deposit Composition (Mid-March 2026)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Deposit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Saving 44.1%</c:v>
                </c:pt>
                <c:pt idx="1">
                  <c:v>Fixed 40.1%</c:v>
                </c:pt>
                <c:pt idx="2">
                  <c:v>Other 9.2%</c:v>
                </c:pt>
                <c:pt idx="3">
                  <c:v>Demand 6.6%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44.1</c:v>
                </c:pt>
                <c:pt idx="1">
                  <c:v>40.1</c:v>
                </c:pt>
                <c:pt idx="2">
                  <c:v>9.2</c:v>
                </c:pt>
                <c:pt idx="3">
                  <c:v>6.6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900" b="0" i="0" u="none" strike="noStrike">
                <a:solidFill>
                  <a:srgbClr val="CBD5E1"/>
                </a:solidFill>
                <a:latin typeface="Arial"/>
              </a:rPr>
              <a:t>Interest Rates by Institution Type — Comparison (%) [CB=Commercial, DB=Dev, FC=Finance]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Mid-March 2025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Base Rate CB</c:v>
                  </c:pt>
                  <c:pt idx="1">
                    <c:v>Base Rate DB</c:v>
                  </c:pt>
                  <c:pt idx="2">
                    <c:v>Base Rate FC</c:v>
                  </c:pt>
                  <c:pt idx="3">
                    <c:v>Deposit CB</c:v>
                  </c:pt>
                  <c:pt idx="4">
                    <c:v>Deposit DB</c:v>
                  </c:pt>
                  <c:pt idx="5">
                    <c:v>Deposit FC</c:v>
                  </c:pt>
                  <c:pt idx="6">
                    <c:v>Lending CB</c:v>
                  </c:pt>
                  <c:pt idx="7">
                    <c:v>Lending DB</c:v>
                  </c:pt>
                  <c:pt idx="8">
                    <c:v>Lending FC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6.34</c:v>
                </c:pt>
                <c:pt idx="1">
                  <c:v>8.42</c:v>
                </c:pt>
                <c:pt idx="2">
                  <c:v>9.32</c:v>
                </c:pt>
                <c:pt idx="3">
                  <c:v>4.54</c:v>
                </c:pt>
                <c:pt idx="4">
                  <c:v>5.32</c:v>
                </c:pt>
                <c:pt idx="5">
                  <c:v>6.36</c:v>
                </c:pt>
                <c:pt idx="6">
                  <c:v>8.4</c:v>
                </c:pt>
                <c:pt idx="7">
                  <c:v>9.78</c:v>
                </c:pt>
                <c:pt idx="8">
                  <c:v>10.53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Mid-March 2026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Base Rate CB</c:v>
                  </c:pt>
                  <c:pt idx="1">
                    <c:v>Base Rate DB</c:v>
                  </c:pt>
                  <c:pt idx="2">
                    <c:v>Base Rate FC</c:v>
                  </c:pt>
                  <c:pt idx="3">
                    <c:v>Deposit CB</c:v>
                  </c:pt>
                  <c:pt idx="4">
                    <c:v>Deposit DB</c:v>
                  </c:pt>
                  <c:pt idx="5">
                    <c:v>Deposit FC</c:v>
                  </c:pt>
                  <c:pt idx="6">
                    <c:v>Lending CB</c:v>
                  </c:pt>
                  <c:pt idx="7">
                    <c:v>Lending DB</c:v>
                  </c:pt>
                  <c:pt idx="8">
                    <c:v>Lending FC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5.1</c:v>
                </c:pt>
                <c:pt idx="1">
                  <c:v>7.17</c:v>
                </c:pt>
                <c:pt idx="2">
                  <c:v>7.68</c:v>
                </c:pt>
                <c:pt idx="3">
                  <c:v>3.45</c:v>
                </c:pt>
                <c:pt idx="4">
                  <c:v>3.88</c:v>
                </c:pt>
                <c:pt idx="5">
                  <c:v>4.86</c:v>
                </c:pt>
                <c:pt idx="6">
                  <c:v>6.9</c:v>
                </c:pt>
                <c:pt idx="7">
                  <c:v>8.16</c:v>
                </c:pt>
                <c:pt idx="8">
                  <c:v>9.41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900" b="0" i="0" u="none" strike="noStrike">
                <a:solidFill>
                  <a:srgbClr val="CBD5E1"/>
                </a:solidFill>
                <a:latin typeface="Arial"/>
              </a:rPr>
              <a:t>NEPSE Market Cap by Sector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Capitalization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bubble3D val="0"/>
            <c:spPr>
              <a:solidFill>
                <a:srgbClr val="60A5FA"/>
              </a:solidFill>
              <a:effectLst/>
            </c:spPr>
          </c:dPt>
          <c:dPt>
            <c:idx val="6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BFIs &amp; Ins 52.2%</c:v>
                </c:pt>
                <c:pt idx="1">
                  <c:v>Hydro 15.9%</c:v>
                </c:pt>
                <c:pt idx="2">
                  <c:v>Inv Co 7.4%</c:v>
                </c:pt>
                <c:pt idx="3">
                  <c:v>Mfg 7.2%</c:v>
                </c:pt>
                <c:pt idx="4">
                  <c:v>Trading 4.4%</c:v>
                </c:pt>
                <c:pt idx="5">
                  <c:v>Hotels 3.1%</c:v>
                </c:pt>
                <c:pt idx="6">
                  <c:v>Other 9.8%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52.2</c:v>
                </c:pt>
                <c:pt idx="1">
                  <c:v>15.9</c:v>
                </c:pt>
                <c:pt idx="2">
                  <c:v>7.4</c:v>
                </c:pt>
                <c:pt idx="3">
                  <c:v>7.2</c:v>
                </c:pt>
                <c:pt idx="4">
                  <c:v>4.4</c:v>
                </c:pt>
                <c:pt idx="5">
                  <c:v>3.1</c:v>
                </c:pt>
                <c:pt idx="6">
                  <c:v>9.8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743200"/>
            <a:ext cx="3657600" cy="36576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280160" cy="12801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457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02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Current Macroeconomic &amp;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Situation of Nepal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011680" y="1719072"/>
            <a:ext cx="6675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82880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Based on Eight Months' Data (Ending Mid-March 2025/26)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Published: April 2, 2026  |  Nepal Rastra Bank, Economic Research Department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1965960" cy="13716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10896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CPI Inflation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14600" y="3108960"/>
            <a:ext cx="1965960" cy="13716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3108960"/>
            <a:ext cx="19659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$23.08B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87752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FX Reserves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1965960" cy="13716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196596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+37.7%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36592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Remittance Growth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3108960"/>
            <a:ext cx="1965960" cy="13716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3108960"/>
            <a:ext cx="19659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6885432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mo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85432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Import Coverage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Presented by Sajin Karki  |  sajinkarki.github.io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Consumer Price Index (CPI) — Mid-March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920240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Overall CPI (y-o-y)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3.75% a year ago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960120"/>
            <a:ext cx="1920240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96012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4414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Food &amp; Beverages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414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414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3.34% prev year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389120" y="960120"/>
            <a:ext cx="1920240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96012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Non-Food &amp; Services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988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988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3.97% prev year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446520" y="960120"/>
            <a:ext cx="1920240" cy="100584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960120"/>
            <a:ext cx="19202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Average Inflation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5562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2.13%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562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4.72% prev year</a:t>
            </a:r>
            <a:endParaRPr lang="en-US" sz="7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274320" y="210312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5577840" y="2103120"/>
            <a:ext cx="3291840" cy="36576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77840" y="2103120"/>
            <a:ext cx="36576" cy="365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1" name="Text 28"/>
          <p:cNvSpPr/>
          <p:nvPr/>
        </p:nvSpPr>
        <p:spPr>
          <a:xfrm>
            <a:off x="5687568" y="21396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Vegetable prices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72400" y="21396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+11.49%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2532888"/>
            <a:ext cx="3291840" cy="36576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77840" y="2532888"/>
            <a:ext cx="36576" cy="365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5" name="Text 32"/>
          <p:cNvSpPr/>
          <p:nvPr/>
        </p:nvSpPr>
        <p:spPr>
          <a:xfrm>
            <a:off x="5687568" y="25694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Ghee &amp; Oil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772400" y="25694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+9.86%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577840" y="2962656"/>
            <a:ext cx="3291840" cy="36576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77840" y="2962656"/>
            <a:ext cx="36576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6"/>
          <p:cNvSpPr/>
          <p:nvPr/>
        </p:nvSpPr>
        <p:spPr>
          <a:xfrm>
            <a:off x="5687568" y="29992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Pulses &amp; Legumes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772400" y="2999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-3.66%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577840" y="3392424"/>
            <a:ext cx="3291840" cy="36576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577840" y="3392424"/>
            <a:ext cx="36576" cy="365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3" name="Text 40"/>
          <p:cNvSpPr/>
          <p:nvPr/>
        </p:nvSpPr>
        <p:spPr>
          <a:xfrm>
            <a:off x="5687568" y="34290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Cereals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772400" y="3429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-2.18%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577840" y="3822192"/>
            <a:ext cx="3291840" cy="36576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77840" y="3822192"/>
            <a:ext cx="36576" cy="3657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7" name="Text 44"/>
          <p:cNvSpPr/>
          <p:nvPr/>
        </p:nvSpPr>
        <p:spPr>
          <a:xfrm>
            <a:off x="5687568" y="38587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India CPI (Feb 2026)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772400" y="38587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3.21%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577840" y="4251960"/>
            <a:ext cx="3291840" cy="36576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577840" y="4251960"/>
            <a:ext cx="36576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8"/>
          <p:cNvSpPr/>
          <p:nvPr/>
        </p:nvSpPr>
        <p:spPr>
          <a:xfrm>
            <a:off x="5687568" y="42885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WPI (y-o-y)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772400" y="42885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3.64%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Sector &amp; Trade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75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Eight months of FY 2025/26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19202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Exports Growth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Rs.191.11 billion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96012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960120"/>
            <a:ext cx="192024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24414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Imports Growth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414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414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Rs.1289.25 billion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389120" y="96012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96012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Trade Deficit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988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988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Rs.1098.14 billion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446520" y="96012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96012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6556248" y="1051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Export/Import Ratio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556248" y="125272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56248" y="16184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13.8% prev year</a:t>
            </a:r>
            <a:endParaRPr lang="en-US" sz="7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274320" y="2029968"/>
          <a:ext cx="5120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5577840" y="2029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Export Destinations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577840" y="2395728"/>
            <a:ext cx="3291840" cy="329184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87568" y="2441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India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589520" y="244144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+25.3%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2779776"/>
            <a:ext cx="3291840" cy="329184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87568" y="28254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Other countries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589520" y="28254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+7.8%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577840" y="3163824"/>
            <a:ext cx="3291840" cy="329184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87568" y="32095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China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589520" y="32095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-53.7%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577840" y="3621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Import Destinations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577840" y="3968496"/>
            <a:ext cx="329184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87568" y="4005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India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589520" y="40050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+5.1%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577840" y="4315968"/>
            <a:ext cx="329184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87568" y="43525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China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589520" y="43525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+21.2%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577840" y="4663440"/>
            <a:ext cx="329184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87568" y="47000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Other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589520" y="47000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+26.0%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Remittances &amp; Balance of Payments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920240" cy="36576"/>
          </a:xfrm>
          <a:prstGeom prst="rect">
            <a:avLst/>
          </a:prstGeom>
          <a:solidFill>
            <a:srgbClr val="7EFFA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Remittance Growth (NPR)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Rs.1449.65 billion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914400"/>
            <a:ext cx="19202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Remittance Growth (USD)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414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414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USD 10.15 billion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891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91440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Current Account Surplus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88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Rs.552.85B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988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Rs.197.03B prev yr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91440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Balance of Payments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562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Rs.658.35B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Rs.310.37B prev yr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029968"/>
          <a:ext cx="38404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4297680" y="2029968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97680" y="2029968"/>
            <a:ext cx="36576" cy="274320"/>
          </a:xfrm>
          <a:prstGeom prst="rect">
            <a:avLst/>
          </a:prstGeom>
          <a:solidFill>
            <a:srgbClr val="7EFFA0"/>
          </a:solidFill>
          <a:ln/>
        </p:spPr>
      </p:sp>
      <p:sp>
        <p:nvSpPr>
          <p:cNvPr id="30" name="Text 27"/>
          <p:cNvSpPr/>
          <p:nvPr/>
        </p:nvSpPr>
        <p:spPr>
          <a:xfrm>
            <a:off x="4407408" y="20665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Monthly (Feb–Mar 2026)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89520" y="206654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EFFA0"/>
                </a:solidFill>
              </a:rPr>
              <a:t>Rs.188.64B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297680" y="2359152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97680" y="2359152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1"/>
          <p:cNvSpPr/>
          <p:nvPr/>
        </p:nvSpPr>
        <p:spPr>
          <a:xfrm>
            <a:off x="4407408" y="23957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Monthly prev year (same period)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589520" y="239572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Rs.151.19B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297680" y="2688336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97680" y="2688336"/>
            <a:ext cx="36576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Text 35"/>
          <p:cNvSpPr/>
          <p:nvPr/>
        </p:nvSpPr>
        <p:spPr>
          <a:xfrm>
            <a:off x="4407408" y="272491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Net Secondary Income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589520" y="27249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Rs.1591.66B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297680" y="3017520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97680" y="3017520"/>
            <a:ext cx="36576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2" name="Text 39"/>
          <p:cNvSpPr/>
          <p:nvPr/>
        </p:nvSpPr>
        <p:spPr>
          <a:xfrm>
            <a:off x="4407408" y="30540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Workers first-time approval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89520" y="305409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273,576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297680" y="3346704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97680" y="3346704"/>
            <a:ext cx="36576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6" name="Text 43"/>
          <p:cNvSpPr/>
          <p:nvPr/>
        </p:nvSpPr>
        <p:spPr>
          <a:xfrm>
            <a:off x="4407408" y="33832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Workers renewal approval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589520" y="338328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251,985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297680" y="3675888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297680" y="3675888"/>
            <a:ext cx="36576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7"/>
          <p:cNvSpPr/>
          <p:nvPr/>
        </p:nvSpPr>
        <p:spPr>
          <a:xfrm>
            <a:off x="4407408" y="371246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Current Acct (USD)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589520" y="37124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+$3.88B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297680" y="4005072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97680" y="4005072"/>
            <a:ext cx="36576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4" name="Text 51"/>
          <p:cNvSpPr/>
          <p:nvPr/>
        </p:nvSpPr>
        <p:spPr>
          <a:xfrm>
            <a:off x="4407408" y="40416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BOP Surplus (USD)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589520" y="4041648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+$4.61B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297680" y="4334256"/>
            <a:ext cx="4572000" cy="2743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297680" y="4334256"/>
            <a:ext cx="36576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5"/>
          <p:cNvSpPr/>
          <p:nvPr/>
        </p:nvSpPr>
        <p:spPr>
          <a:xfrm>
            <a:off x="4407408" y="43708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FDI Inflows (equity)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589520" y="43708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Rs.10.84B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Exchange Reserves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Gross FX Reserves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Rs.3413.77B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+27.5% from mid-July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91440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FX Reserves (USD)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414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$23.08B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414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+18.3% from mid-July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891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914400"/>
            <a:ext cx="19202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Import Coverage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88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months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988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Merch+services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914400"/>
            <a:ext cx="192024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91440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Reserves/GDP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562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43.8% mid-July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029968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577840" y="2029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Adequacy Indicators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77840" y="2423160"/>
            <a:ext cx="3291840" cy="347472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77840" y="2423160"/>
            <a:ext cx="36576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8"/>
          <p:cNvSpPr/>
          <p:nvPr/>
        </p:nvSpPr>
        <p:spPr>
          <a:xfrm>
            <a:off x="5687568" y="24780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Merchandise import coverage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589520" y="24780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21.4 mo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577840" y="2825496"/>
            <a:ext cx="3291840" cy="347472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77840" y="2825496"/>
            <a:ext cx="36576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Text 32"/>
          <p:cNvSpPr/>
          <p:nvPr/>
        </p:nvSpPr>
        <p:spPr>
          <a:xfrm>
            <a:off x="5687568" y="28803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Merch+Services coverage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89520" y="28803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18.5 mo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577840" y="3227832"/>
            <a:ext cx="3291840" cy="347472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77840" y="3227832"/>
            <a:ext cx="36576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9" name="Text 36"/>
          <p:cNvSpPr/>
          <p:nvPr/>
        </p:nvSpPr>
        <p:spPr>
          <a:xfrm>
            <a:off x="5687568" y="32826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Reserves to GDP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589520" y="32826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55.9%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577840" y="3630168"/>
            <a:ext cx="3291840" cy="347472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577840" y="3630168"/>
            <a:ext cx="36576" cy="3474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3" name="Text 40"/>
          <p:cNvSpPr/>
          <p:nvPr/>
        </p:nvSpPr>
        <p:spPr>
          <a:xfrm>
            <a:off x="5687568" y="368503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Reserves to Imports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589520" y="36850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153.8%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577840" y="4032504"/>
            <a:ext cx="3291840" cy="347472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77840" y="4032504"/>
            <a:ext cx="36576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4"/>
          <p:cNvSpPr/>
          <p:nvPr/>
        </p:nvSpPr>
        <p:spPr>
          <a:xfrm>
            <a:off x="5687568" y="408736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Reserves to M2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589520" y="408736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40.8%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577840" y="4434840"/>
            <a:ext cx="3291840" cy="347472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577840" y="4434840"/>
            <a:ext cx="36576" cy="3474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Text 48"/>
          <p:cNvSpPr/>
          <p:nvPr/>
        </p:nvSpPr>
        <p:spPr>
          <a:xfrm>
            <a:off x="5687568" y="44897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Indian currency share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589520" y="44897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21.0%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Brent Oil: +45.8% → $103.23/bbl  |  Gold: +69.6% → $5,044.60/oz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Situation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01168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201168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0584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Total Expenditure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Rs.926.59B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+10.4% growth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201168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14400"/>
            <a:ext cx="20116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532888" y="100584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Total Revenue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32888" y="120700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Rs.747.28B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32888" y="1572768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+3.7% growth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201168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914400"/>
            <a:ext cx="20116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100584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Tax Revenue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81728" y="120700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Rs.676.59B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81728" y="1572768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+5.9% growth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720840" y="914400"/>
            <a:ext cx="2011680" cy="96012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914400"/>
            <a:ext cx="201168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1005840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GoN Cash Balance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30568" y="120700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Rs.377.61B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1572768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Rs.137.78B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057400"/>
          <a:ext cx="8595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Monetary Situation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Broad Money (M2)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y-o-y: +14.5%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91440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BFI Deposits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414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+6.6%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414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Rs.7,745.88B total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891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91440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Private Sector Credit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88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988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Rs.5,741.24B total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914400"/>
            <a:ext cx="19202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Reserve Money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562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y-o-y: +6.2%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01168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Chart 1" descr=""/>
          <p:cNvGraphicFramePr/>
          <p:nvPr/>
        </p:nvGraphicFramePr>
        <p:xfrm>
          <a:off x="5669280" y="2011680"/>
          <a:ext cx="3200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Rates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Interbank Rate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3.00% yr ago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91440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91-Day T-Bill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414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414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2.93% yr ago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891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91440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Deposit Rate (CB)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88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988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4.54% yr ago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914400"/>
            <a:ext cx="192024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Lending Rate (CB)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562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8.40% yr ago</a:t>
            </a:r>
            <a:endParaRPr lang="en-US" sz="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029968"/>
          <a:ext cx="8595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Nepal Rastra Bank — Economic Research Dept | 2025/26 (Eight Months)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Market &amp; Key Takeaways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192024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NEPSE Index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2820.45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vs 2736.49 yr ago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317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914400"/>
            <a:ext cx="192024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4414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Market Cap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414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Rs.4744.73B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414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Cap/GDP = 77.69%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3891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91440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Listed Companies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988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988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133 BFIs &amp; Ins.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914400"/>
            <a:ext cx="192024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914400"/>
            <a:ext cx="192024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100584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NPL Ratio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56248" y="1207008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5.42%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56248" y="157276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As of mid-Jan 2025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4320" y="20299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395728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395728"/>
            <a:ext cx="36576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245059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Strong FX position — 18.5 months import cover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743200"/>
            <a:ext cx="36576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" y="279806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Remittance growth at 37.7% — record high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090672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090672"/>
            <a:ext cx="36576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" y="314553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Inflation moderated to 3.62% (below 4%)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438144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438144"/>
            <a:ext cx="36576" cy="2926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" y="3493008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Current account surplus of Rs.552.85B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785616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785616"/>
            <a:ext cx="36576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" y="384048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Private credit growth remains modest (+4.4%)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133088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133088"/>
            <a:ext cx="36576" cy="2926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41879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Capital expenditure fell 4.7% — concern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480560"/>
            <a:ext cx="4389120" cy="292608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480560"/>
            <a:ext cx="36576" cy="2926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8" name="Text 46"/>
          <p:cNvSpPr/>
          <p:nvPr/>
        </p:nvSpPr>
        <p:spPr>
          <a:xfrm>
            <a:off x="402336" y="453542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Rupee depreciated 7.2% against USD</a:t>
            </a:r>
            <a:endParaRPr lang="en-US" sz="85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4846320" y="2029968"/>
          <a:ext cx="4023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7315200" cy="7315200"/>
          </a:xfrm>
          <a:prstGeom prst="ellipse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NRB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548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28800" y="1325880"/>
            <a:ext cx="6858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Nepal Macroeconomic &amp; Financial Situation — FY 2025/26 (Eight Months)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CPI Inflation: 3.62% | FX Reserves: $23.08B | Import Cover: 18.5 months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Remittance: +37.7% | Current Account Surplus: Rs.552.85B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61518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BFI Deposits: +6.6% | Private Credit: +4.4% | M2: +14.5% y-o-y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96265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NEPSE: 2820.45 | Lending Rate (CB): 6.90%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0F1E35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Source: Nepal Rastra Bank, Economic Research Department | Baluwatar, Kathmandu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nrb.org.np  |  govfin@nrb.org.np  |  +977-01-5719641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Presentation prepared by Sajin Karki  |  sajinkarki.github.io  |  April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Nepal Macroeconomic &amp; Financial Situation 2025/26</dc:title>
  <dc:subject>PptxGenJS Presentation</dc:subject>
  <dc:creator>Sajin Karki</dc:creator>
  <cp:lastModifiedBy>Sajin Karki</cp:lastModifiedBy>
  <cp:revision>1</cp:revision>
  <dcterms:created xsi:type="dcterms:W3CDTF">2026-04-10T03:16:32Z</dcterms:created>
  <dcterms:modified xsi:type="dcterms:W3CDTF">2026-04-10T03:16:32Z</dcterms:modified>
</cp:coreProperties>
</file>